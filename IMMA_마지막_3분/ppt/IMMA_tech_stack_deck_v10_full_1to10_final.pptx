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스크린샷(213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5440680" cy="3063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713232"/>
            <a:ext cx="2834640" cy="310896"/>
          </a:xfrm>
          <a:prstGeom prst="roundRect">
            <a:avLst>
              <a:gd name="adj" fmla="val 23529"/>
            </a:avLst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58952" y="781812"/>
            <a:ext cx="2688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기반 도면 분석 제조 매칭 플랫폼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85800" y="13258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IMMA 프로젝트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기술 스택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" y="2971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 · PostgreSQL · Railway · VLM/RAG · Static UI · Swagger · GitHub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3232" y="3703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도면 업로드부터 AI 분석, 업체 매칭, 발주/생산/납품/리뷰까지 연결한 전체 기술 흐름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6199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 · IMMA Demo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전체 구조: 도면에서 거래 완료까지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클라이언트 입력, AI 분석, 매칭 API, DB, 운영 UI가 하나의 흐름으로 연결됨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647395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IMMA 기술 스택 · 2/10</a:t>
            </a:r>
          </a:p>
        </p:txBody>
      </p:sp>
      <p:sp>
        <p:nvSpPr>
          <p:cNvPr id="6" name="Shape 4"/>
          <p:cNvSpPr/>
          <p:nvPr/>
        </p:nvSpPr>
        <p:spPr>
          <a:xfrm>
            <a:off x="2221992" y="2926080"/>
            <a:ext cx="47548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050792" y="2926080"/>
            <a:ext cx="47548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879592" y="2926080"/>
            <a:ext cx="47548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54112" y="2926080"/>
            <a:ext cx="47548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28632" y="2926080"/>
            <a:ext cx="47548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2240280"/>
            <a:ext cx="14173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3682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도면 업로드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33472"/>
            <a:ext cx="1143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DWG/PDF/JPG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0" y="3419856"/>
            <a:ext cx="1143000" cy="0"/>
          </a:xfrm>
          <a:prstGeom prst="line">
            <a:avLst/>
          </a:prstGeom>
          <a:noFill/>
          <a:ln w="25400">
            <a:solidFill>
              <a:srgbClr val="FFD00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606040" y="2240280"/>
            <a:ext cx="14173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43200" y="23682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분석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633472"/>
            <a:ext cx="1143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VLM/OCR 추출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0" y="3419856"/>
            <a:ext cx="1143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434840" y="2240280"/>
            <a:ext cx="14173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0" y="23682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RFQ 정규화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633472"/>
            <a:ext cx="1143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 계약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3419856"/>
            <a:ext cx="11430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09360" y="2240280"/>
            <a:ext cx="14173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46520" y="23682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매칭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2633472"/>
            <a:ext cx="1143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 + RAG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46520" y="3419856"/>
            <a:ext cx="11430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183880" y="2240280"/>
            <a:ext cx="14173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321040" y="23682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DB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21040" y="2633472"/>
            <a:ext cx="1143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21040" y="3419856"/>
            <a:ext cx="11430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012680" y="2240280"/>
            <a:ext cx="14173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149840" y="23682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3자 UI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149840" y="2633472"/>
            <a:ext cx="1143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Client/Supplier/Admin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149840" y="3419856"/>
            <a:ext cx="11430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77240" y="4709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기술 조합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24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· FastAPI · PostgreSQL · SQLAlchemy · REST/JSON · OpenAPI/Swagger · Railway · GitHub · HTML/CSS/JS · Replicate/Cog · VLM/RAG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77240" y="5715000"/>
            <a:ext cx="10652760" cy="4572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60120" y="5870448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 목표: “견적 요청”을 단순 폼이 아니라 데이터 파이프라인으로 만들기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프론트엔드: 3자 역할별 시연 UI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HTML/CSS/JavaScript 기반으로 클라이언트, 가공업체, 관리자 흐름을 분리 구현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647395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IMMA 기술 스택 · 3/10</a:t>
            </a:r>
          </a:p>
        </p:txBody>
      </p:sp>
      <p:pic>
        <p:nvPicPr>
          <p:cNvPr id="6" name="Image 0" descr="/mnt/data/스크린샷(2245).png">    </p:cNvPr>
          <p:cNvPicPr>
            <a:picLocks noChangeAspect="1"/>
          </p:cNvPicPr>
          <p:nvPr/>
        </p:nvPicPr>
        <p:blipFill>
          <a:blip r:embed="rId1"/>
          <a:srcRect l="0" r="0" t="350" b="350"/>
          <a:stretch/>
        </p:blipFill>
        <p:spPr>
          <a:xfrm>
            <a:off x="6492240" y="1325880"/>
            <a:ext cx="507492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325880"/>
            <a:ext cx="5303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85800" y="1325880"/>
            <a:ext cx="64008" cy="960120"/>
          </a:xfrm>
          <a:prstGeom prst="rect">
            <a:avLst/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86968" y="149047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정적 UI + 역할별 라우팅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6968" y="1828800"/>
            <a:ext cx="49560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landing, client-dashboard, quote-request, matching, supplier-workbench, admin-control-center 등 페이지를 역할별로 구성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578608"/>
            <a:ext cx="5303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85800" y="2578608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86968" y="27432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 플로우 제어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86968" y="3081528"/>
            <a:ext cx="49560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site-actions.js로 버튼 이동, 상태 변경, 알림, Demo 데이터 갱신 흐름 제어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3831336"/>
            <a:ext cx="5303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85800" y="3831336"/>
            <a:ext cx="6400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86968" y="3995928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스타일 시스템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86968" y="4334256"/>
            <a:ext cx="49560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imma-common.css / role-workflows.css로 IMMA 색상, 버튼, 배지, 카드, 워크벤치 스타일 통일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92240" y="443484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UI에서 구현한 사용자 경험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92240" y="48006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도면 업로드 → AI 분석 대기 → RFQ 확정 → 후보 선택 → 견적 대기 → 결제/계약 → 생산/납품/리뷰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92240" y="571500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565392" y="5783580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452360" y="571500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525512" y="578358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321040" y="57150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394192" y="578358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JavaScript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9784080" y="57150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857232" y="578358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Demo UX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백엔드/API: FastAPI 서버와 Swagger 검증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REST API, 라우터 모듈, OpenAPI 문서화로 기능을 검증 가능한 형태로 구성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647395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IMMA 기술 스택 · 4/10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26974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main.py + routers/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REST/JSON 입출력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Swagger /docs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CORS + Static mount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489204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78992" y="496062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Railway 배포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6355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09160" y="1362456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auth/signup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62763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회원가입, 로그인, 역할 분기 기본 흐름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6355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09160" y="2322576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drawings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258775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도면 업로드, SHA-256 해시 저장, 중복 업로드 방지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3154680"/>
            <a:ext cx="6355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09160" y="3282696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matching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54787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/api/match-v2 호출, VLM 입력 기반 업체 추천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4114800"/>
            <a:ext cx="6355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709160" y="4242816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orders/quotes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450799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견적 요청, 발주 확정, 상태 변경 흐름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5074920"/>
            <a:ext cx="6355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709160" y="5202936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admin/catalog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546811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관리자 대시보드 데이터, 장비/카탈로그 조회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" y="61996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83080" y="619963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· FastAPI · Pydantic · SQLAlchemy · OpenAPI/Swagger · REST API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데이터베이스: PostgreSQL 기반 운영 데이터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업체 역량, RFQ, 도면, 매칭 결과, 리뷰를 관계형 DB와 JSONB로 관리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647395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IMMA 기술 스택 · 5/10</a:t>
            </a:r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194560" cy="338328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PostgreSQL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Railway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63240" y="3200400"/>
            <a:ext cx="10972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43400" y="1143000"/>
            <a:ext cx="6675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80560" y="1271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users / companies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1536192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개인회원, 가공업체, 관리자 계정/회사 정보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6675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480560" y="20939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rfqs / drawings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359152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RFQ 요청 정보, 도면 파일 경로, SHA-256 해시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3400" y="2788920"/>
            <a:ext cx="6675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80560" y="291693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material/process capabilities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182112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업체별 재질/공정/장비 가공 가능 정보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3400" y="3611880"/>
            <a:ext cx="6675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480560" y="373989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vlm_rag_results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4005072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VLM 인식 결과와 매칭용 JSON 원본 저장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43400" y="4434840"/>
            <a:ext cx="6675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80560" y="456285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reviews / orders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4828032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발주, 납품, 검수, 리뷰 이력 관리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포인트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514600" y="5285232"/>
            <a:ext cx="8275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정형 데이터는 테이블로, 도면 인식/매칭 결과처럼 변동이 큰 데이터는 JSONB로 보관해 프로토타입 속도와 확장성을 함께 확보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AI/VLM: 도면 정보를 구조화하기 위한 실험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도면 이미지에서 재질, 공정, 누락 정보, 치수 단서를 추출하기 위한 VLM/OCR 파이프라인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647395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IMMA 기술 스택 · 6/10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9728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862072" y="2697480"/>
            <a:ext cx="65836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376672" y="2697480"/>
            <a:ext cx="65836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891272" y="2697480"/>
            <a:ext cx="65836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43000" y="2240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52728" y="240487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도면 입력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52728" y="274320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DWG/PDF/JPG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2240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67328" y="240487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OCR/VLM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67328" y="274320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Qwen/Donut/YOLO 실험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2240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81928" y="240487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JSON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274320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parts, material, processes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2240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796528" y="240487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보완 신호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96528" y="274320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warnings, missing fields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416052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14400" y="4160520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15568" y="43251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Replicate / Cog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5568" y="4663440"/>
            <a:ext cx="28986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클라우드 GPU 기반 모델 배포와 cold start 리스크 검증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416052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480560" y="4160520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81728" y="43251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Qwen / Donut / OCR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81728" y="4663440"/>
            <a:ext cx="28986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대형 VLM, 문서 OCR, 도면 추출 실험으로 후보 파이프라인 비교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416052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046720" y="4160520"/>
            <a:ext cx="64008" cy="868680"/>
          </a:xfrm>
          <a:prstGeom prst="rect">
            <a:avLst/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47888" y="43251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VLM→Match 계약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47888" y="4663440"/>
            <a:ext cx="28986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인식 결과를 매칭 API가 쓸 수 있는 입력 JSON으로 변환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RAG/매칭 파이프라인: 도면 JSON을 업체 추천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VLM 결과를 매칭 입력으로 정규화하고, DB/lookup 기반으로 후보 업체를 계산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647395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IMMA 기술 스택 · 7/10</a:t>
            </a:r>
          </a:p>
        </p:txBody>
      </p:sp>
      <p:pic>
        <p:nvPicPr>
          <p:cNvPr id="6" name="Image 0" descr="/mnt/data/스크린샷(2144).png">    </p:cNvPr>
          <p:cNvPicPr>
            <a:picLocks noChangeAspect="1"/>
          </p:cNvPicPr>
          <p:nvPr/>
        </p:nvPicPr>
        <p:blipFill>
          <a:blip r:embed="rId1"/>
          <a:srcRect l="5099" r="5099" t="0" b="0"/>
          <a:stretch/>
        </p:blipFill>
        <p:spPr>
          <a:xfrm>
            <a:off x="7406640" y="1280160"/>
            <a:ext cx="4160520" cy="2606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234440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14400" y="1362456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VLM Result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62763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sample_vlm_result.json (도면 인식 결과)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74720" y="2011680"/>
            <a:ext cx="0" cy="32004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77240" y="2331720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4400" y="2459736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Match Input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272491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material, processes, quantity, envelope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74720" y="3108960"/>
            <a:ext cx="0" cy="32004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77240" y="3429000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14400" y="3557016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Lookup/DB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382219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재질·공정·장비·업체 역량 조회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474720" y="4206240"/>
            <a:ext cx="0" cy="32004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77240" y="4526280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14400" y="4654296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4400" y="491947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50">
                <a:solidFill>
                  <a:srgbClr val="475569"/>
                </a:solidFill>
                <a:latin typeface="Noto Sans CJK KR"/>
              </a:rPr>
              <a:t>추천 업체 목록, 점수, 경고 메시지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406640" y="4251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매칭 결과가 화면에서 하는 일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406640" y="46177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 업체 비교, 견적 요청, 업체 회신 대기, 결제/계약 전환의 기준 데이터로 활용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406640" y="5623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479792" y="569214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/api/match-v2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9006840" y="562356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9079992" y="5692140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RAG/DB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0287000" y="562356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0360152" y="5692140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 계약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0F172A"/>
                </a:solidFill>
                <a:latin typeface="Noto Sans CJK KR"/>
              </a:rPr>
              <a:t>7. 배포·운영·실험 이력관리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850">
                <a:solidFill>
                  <a:srgbClr val="475569"/>
                </a:solidFill>
                <a:latin typeface="Noto Sans CJK KR"/>
              </a:rPr>
              <a:t>Railway/GitHub/Swagger 운영 검증과 파일 생성 이력 기반 실험 추적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647395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IMMA 기술 스택 · 8/10</a:t>
            </a:r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53035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143000"/>
            <a:ext cx="64008" cy="804672"/>
          </a:xfrm>
          <a:prstGeom prst="rect">
            <a:avLst/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78408" y="130759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645920"/>
            <a:ext cx="495604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main.py, routers, pipeline, static UI 버전 관리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53035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219456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78408" y="235915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Railway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2697480"/>
            <a:ext cx="495604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 서버 + PostgreSQL 배포/환경변수 운영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53035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3246120"/>
            <a:ext cx="64008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78408" y="341071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Swagger /docs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749040"/>
            <a:ext cx="495604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GET /db-test, POST /api/match-v2 등 API 검증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4297680"/>
            <a:ext cx="53035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4297680"/>
            <a:ext cx="64008" cy="804672"/>
          </a:xfrm>
          <a:prstGeom prst="rect">
            <a:avLst/>
          </a:prstGeom>
          <a:solidFill>
            <a:srgbClr val="FFD000"/>
          </a:solidFill>
          <a:ln w="12700">
            <a:solidFill>
              <a:srgbClr val="FFD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78408" y="446227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F172A"/>
                </a:solidFill>
                <a:latin typeface="Noto Sans CJK KR"/>
              </a:rPr>
              <a:t>Backups / Experiment Logs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8408" y="4800600"/>
            <a:ext cx="495604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919">
                <a:solidFill>
                  <a:srgbClr val="475569"/>
                </a:solidFill>
                <a:latin typeface="Noto Sans CJK KR"/>
              </a:rPr>
              <a:t>zip 스냅샷, README, QC 메모, 시연 체크리스트 관리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1234440"/>
            <a:ext cx="4892040" cy="452628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03720" y="16276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Noto Sans CJK KR"/>
              </a:rPr>
              <a:t>실험 이력관리 근거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95160" y="22402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2E8F0"/>
                </a:solidFill>
                <a:latin typeface="Noto Sans CJK KR"/>
              </a:rPr>
              <a:t>• 전체 산출물 265개 / 1.28GB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81635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2E8F0"/>
                </a:solidFill>
                <a:latin typeface="Noto Sans CJK KR"/>
              </a:rPr>
              <a:t>• 2026-04-21~05-14 생성 이력 정리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339242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2E8F0"/>
                </a:solidFill>
                <a:latin typeface="Noto Sans CJK KR"/>
              </a:rPr>
              <a:t>• UI·API·VLM·RAG·Replicate·QC 단계 추적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3968496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2E8F0"/>
                </a:solidFill>
                <a:latin typeface="Noto Sans CJK KR"/>
              </a:rPr>
              <a:t>• 수정 전후·디버그·Path B 대안까지 문서화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5166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CC00"/>
                </a:solidFill>
                <a:latin typeface="Noto Sans CJK KR"/>
              </a:rPr>
              <a:t>실험 → 구현 → 검증 → 보완 흐름을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C00"/>
                </a:solidFill>
                <a:latin typeface="Noto Sans CJK KR"/>
              </a:rPr>
              <a:t>산출물 기준으로 관리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IMMA에서 사용한 기술 요약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도면 기반 제조 거래를 “데이터 흐름”으로 바꾸기 위해 쓴 기술들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2971800" cy="1261872"/>
          </a:xfrm>
          <a:prstGeom prst="roundRect">
            <a:avLst>
              <a:gd name="adj" fmla="val 652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1832" y="1810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" y="21762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HTML/CSS/JS · Static UI · Role-based flows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2971800" cy="1261872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62272" y="1810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62272" y="21762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· FastAPI · REST API · Swagger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18120" y="1645920"/>
            <a:ext cx="2971800" cy="1261872"/>
          </a:xfrm>
          <a:prstGeom prst="roundRect">
            <a:avLst>
              <a:gd name="adj" fmla="val 652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82712" y="1810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82712" y="21762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PostgreSQL · SQLAlchemy · JSONB · Seed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703320"/>
            <a:ext cx="2971800" cy="1261872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41832" y="3867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Pipeline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1832" y="42336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VLM/OCR · Replicate/Cog · Qwen/Donut · RAG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3703320"/>
            <a:ext cx="2971800" cy="1261872"/>
          </a:xfrm>
          <a:prstGeom prst="roundRect">
            <a:avLst>
              <a:gd name="adj" fmla="val 652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62272" y="3867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62272" y="42336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Railway · GitHub · Env vars · Logs/Backups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18120" y="3703320"/>
            <a:ext cx="2971800" cy="1261872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82712" y="3867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Demo/Ops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82712" y="42336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3-role scenario · fixture policy · risk checklist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5806440"/>
            <a:ext cx="10058400" cy="502920"/>
          </a:xfrm>
          <a:prstGeom prst="roundRect">
            <a:avLst>
              <a:gd name="adj" fmla="val 16364"/>
            </a:avLst>
          </a:prstGeom>
          <a:solidFill>
            <a:srgbClr val="FFFBEB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0120" y="597103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 결론: IMMA는 “도면 업로드 → AI 분석 → 매칭 → 거래 완료”를 연결한 풀스택 제조 플랫폼 프로토타입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01400" y="6492240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ch_demo_interface_with_replicate_playg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IMMA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IMMA 프로젝트 사용 기술 스택</dc:title>
  <dc:subject>IMMA project technologies</dc:subject>
  <dc:creator>OpenAI</dc:creator>
  <cp:lastModifiedBy>OpenAI</cp:lastModifiedBy>
  <cp:revision>1</cp:revision>
  <dcterms:created xsi:type="dcterms:W3CDTF">2026-05-14T23:34:15Z</dcterms:created>
  <dcterms:modified xsi:type="dcterms:W3CDTF">2026-05-14T23:34:15Z</dcterms:modified>
</cp:coreProperties>
</file>